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73" r:id="rId5"/>
    <p:sldId id="258" r:id="rId6"/>
    <p:sldId id="260" r:id="rId7"/>
    <p:sldId id="259" r:id="rId8"/>
    <p:sldId id="276" r:id="rId9"/>
    <p:sldId id="277" r:id="rId10"/>
    <p:sldId id="262" r:id="rId11"/>
    <p:sldId id="283" r:id="rId12"/>
    <p:sldId id="275" r:id="rId13"/>
    <p:sldId id="263" r:id="rId14"/>
    <p:sldId id="279" r:id="rId15"/>
    <p:sldId id="285" r:id="rId16"/>
    <p:sldId id="278" r:id="rId17"/>
    <p:sldId id="261" r:id="rId18"/>
    <p:sldId id="286" r:id="rId19"/>
    <p:sldId id="264" r:id="rId20"/>
    <p:sldId id="266" r:id="rId21"/>
    <p:sldId id="268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84ACD-7515-4A78-82D6-4A290E0E4764}" v="108" dt="2026-01-06T17:13:5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CAAD-8E38-FF1E-4025-14B03E75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52DB3-E52B-7097-FAFB-791954492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CC4C1-D122-6841-04CF-D3EDBFB6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E2D90-E33D-6C14-C645-571B2CA0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0921-2B6E-5113-6410-67D0C492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5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C284-33CF-6A5A-D778-EFEE71B0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716A3-D0CE-3718-3441-7DE11BF15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35EC4-62FD-FA31-55FE-B43BDA89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D7D76-D90D-201F-F354-05BCF861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579C7-7A56-3E59-A3B6-FEAA3F86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5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B9AC-3694-F9FA-FD30-6E764B97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1A673-698C-8EDD-DA82-7368E5903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E7870-1189-93CE-1DD0-B9CDD27E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785D6-FE2D-901A-64F2-783AF40F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B1AB-C0DC-4AF2-B06D-E8C6CAD2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7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B079-BB46-297B-121E-D0A48508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6AFB-EBC3-80C9-94B5-D14F3780D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26D35-517B-450C-3F7C-8F8CC03AF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0733F-6272-79D5-7CBC-7F2541A3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0B8D0-EBA2-15B9-CE60-5B03DA3A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F0F6B-FE0C-4B91-635F-F678E566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92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44DC-AD2E-6E71-FAF9-B3691C85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5C1BC-A5D3-3F5C-0F5C-F7C1922E6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26A43-1F08-E8D7-61C7-AEC060EB6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8974-3849-F15D-2356-CDEF25709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E4ACC-2D9C-18AF-8146-FB5D24E9C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527FD-3F32-940E-5F70-64F00EE2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8381F-7C8E-C4DC-9221-8FA2F268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14A00-E934-D104-EAA3-0322B6DD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5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B80B-BFB8-3B6D-4EC2-468F03D2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41DBB-09F7-4686-A060-47FB5EA3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14DCE-6E76-3339-8394-12F308A1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7A7BD-F56B-8E5A-F9E1-1AFAF003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05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58D39-8FF5-8290-37ED-6EBCD2AC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C47B3-AAAE-3D65-7CFD-CB727385F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232E6-BC78-DAB1-059E-A657FE35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90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08DB-7853-7264-78AF-944E353E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94406-F41A-A5AF-5BEB-5309856C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66E29-C04E-2682-D90A-DBB59410B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B3884-B49E-0A09-B816-9457992D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305CF-FACD-7FC0-AAB4-A154ED02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505A5-42A2-B194-CEFD-34C34B5A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4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4A8C-A5B7-4E73-A1B5-4C45670B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4ECC8-228C-0B7B-1267-8696C5369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10CF-F176-87A7-C983-5841B6DA3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E7FD8-EBF4-656C-62F7-19D37448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8CDA6-3D9A-3343-E970-377C7423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355B4-54B5-B286-C29D-C79C5BD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8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1561-2CBC-32DC-4E27-99E263FB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BDA16-3C1C-F86B-DA70-17DD2E091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C5AA-8346-E082-944A-1D0CC43DB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5B1CE-B1AF-F55C-32E5-18C2199E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A6C24-97AD-A97B-898D-BB200BF2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11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0F6CC-8986-D163-2932-0C06F4A9A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5D2B-D0F0-12AA-47AA-A00852C07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ED36F-C815-FEB1-89A2-90F2104F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B76B-BA78-3B39-7779-67E76461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7CADF-6DE1-B720-BD3E-8A0ABEC8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4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1AA37-9028-78DD-B933-A799CDC7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67DD9-82BE-BF35-7129-768D73875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03E1-50AA-EFAA-D8FD-1D8854ADB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75FD-F3B0-43CD-B4BA-3ADB90F969C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2D22-2CF3-ADE3-6FD8-5EA8D352F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B8B1-5D90-6615-091A-0ED19583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A8FD0-1A0D-42A5-B63D-FBEC7D4E0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2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0673-873F-9FC0-7656-3EE4DB4C9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25662"/>
            <a:ext cx="12192000" cy="257456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FASHION: ECO-FRIENDLY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161DD0-3EE2-3530-6C38-BB61DC27B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78" y="6156853"/>
            <a:ext cx="3628102" cy="545690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E2784008-DBB3-4B93-309A-32BE1D59C46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561" y="165289"/>
            <a:ext cx="9154909" cy="19486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82A09A-1104-7445-35ED-F79332994471}"/>
              </a:ext>
            </a:extLst>
          </p:cNvPr>
          <p:cNvSpPr txBox="1"/>
          <p:nvPr/>
        </p:nvSpPr>
        <p:spPr>
          <a:xfrm>
            <a:off x="7894320" y="4378959"/>
            <a:ext cx="39827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Varun Sai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Pavankalyan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Burri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Shabana</a:t>
            </a:r>
          </a:p>
        </p:txBody>
      </p:sp>
    </p:spTree>
    <p:extLst>
      <p:ext uri="{BB962C8B-B14F-4D97-AF65-F5344CB8AC3E}">
        <p14:creationId xmlns:p14="http://schemas.microsoft.com/office/powerpoint/2010/main" val="287648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7C648-CBFE-69D1-FE6B-E55A997C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A5B0B-4A40-EFA5-E232-C68379F0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IN" dirty="0">
                <a:latin typeface="+mn-lt"/>
              </a:rPr>
              <a:t>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D7036-8993-1F15-7FF3-D90AC3C34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(B-tech or M-tech): My name is B Varun Sai. I have completed my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Electronics and Instrumentation Engineering.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 want to learn Data Science: I want to learn Data Science because it helps in analyzing data, finding patterns, and making predictions. Data Science allows me to combine programming, statistics, and problem-solving skills to solve real-world problems. It also offers strong career growth and learning opportunities.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work experience: I am a fresher and currently do not have formal work experience. I am focusing on learning Data Science concepts and building practical skills.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5F4AA-4797-A47D-1071-D57837E5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4" y="6176963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3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9B62-B610-C65D-BCDC-6F47D5A8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DD46-0E96-82A8-F84C-A30CA1278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(B-Tech or M-Tech): My name 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Pavankalyan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Burri. I have completed my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(CSE).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you want to learn Data Science? I want to learn Data Science to analyze data and build a strong IT career.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work experience: I am a fresher.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CAF9F-2274-D2DD-CCD4-F47136E93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4" y="6176963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0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897C-94EF-9CB0-CEA1-6ACE613E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9BD4-5C36-8002-D4E9-0B42A6C3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EE2F-15FB-806F-9F6B-7D648AA19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(B-Tech or M-Tech): My name is Syeed Shabana. I am currently pursuing my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(CSE).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you want to learn Data Science? I’ve always been interested in computers, and during my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became fascinated by how data can be analyzed to derive insights. That curiosity led me to choose Data Science as my career path.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work experience: I am a fresher.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1B161-D4C0-441C-DD96-99544AB14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247" y="6176963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05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93C5-62F3-2DF0-5C74-55DC31C1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DDAC-BBB0-4D63-3414-1533BE30D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Fashion Trends – 2024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Fashion Industry &amp; Sustainability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5,000 fashion brands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attributes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(brand details, sustainability indicators, market trend)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variables (environmental impact metrics and pricing)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Sustainability practices, environmental impact, and market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6E716-951D-0F9D-5C4E-C0B8B3B20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407" y="6220030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3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B8C6-92BE-4F8F-BEE1-62BB8204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90"/>
            <a:ext cx="10515600" cy="8254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AD58D-DB9F-F929-FC8A-9712ED0D0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032" y="6390640"/>
            <a:ext cx="1828146" cy="274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110C09-449E-F83F-D2F0-E68105B4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22" y="1498600"/>
            <a:ext cx="11664356" cy="4666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F55043-2A5D-5270-4309-3D76752C8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22" y="964730"/>
            <a:ext cx="5616427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60B-7627-216A-8073-9B4C18EC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DESCRIPTION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9ADDB-F504-2BD6-9180-1B97DF22A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338" y="6076090"/>
            <a:ext cx="3628102" cy="545690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AEADB091-3372-FDE6-F7DD-25341A787D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4844" y="1325563"/>
            <a:ext cx="54956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Unique brand identifier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brand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Operating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Rating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Low / Medium / High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 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material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Manufacturing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Recycling Programs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Recycling initiatives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Sustainability certifications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Emissions (metric tons)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Usage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Water consumption (liters)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Production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Waste generated (kg)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Lines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product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Mean product price (USD)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Growing / Stable / Declining</a:t>
            </a:r>
          </a:p>
        </p:txBody>
      </p:sp>
    </p:spTree>
    <p:extLst>
      <p:ext uri="{BB962C8B-B14F-4D97-AF65-F5344CB8AC3E}">
        <p14:creationId xmlns:p14="http://schemas.microsoft.com/office/powerpoint/2010/main" val="66294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1AD43B8-BE35-7724-8710-50AD3E210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94" y="1653407"/>
            <a:ext cx="2042337" cy="662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A5CF2-92AE-1021-6DC5-6BDF718C0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48" y="2804339"/>
            <a:ext cx="6294665" cy="1226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E3D983-25EF-8CA6-3488-379BAF1569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013" y="1870866"/>
            <a:ext cx="4473393" cy="4320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0D843-891A-7C8D-D7B7-9016B402BB87}"/>
              </a:ext>
            </a:extLst>
          </p:cNvPr>
          <p:cNvSpPr txBox="1"/>
          <p:nvPr/>
        </p:nvSpPr>
        <p:spPr>
          <a:xfrm>
            <a:off x="678048" y="393179"/>
            <a:ext cx="96197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CHECKS</a:t>
            </a:r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201C6-C303-D225-4125-4A35359EF1D8}"/>
              </a:ext>
            </a:extLst>
          </p:cNvPr>
          <p:cNvSpPr txBox="1"/>
          <p:nvPr/>
        </p:nvSpPr>
        <p:spPr>
          <a:xfrm>
            <a:off x="678048" y="465110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number of rows and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column names and data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categorical and numerical columns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26D2F-DB92-084C-298F-527C3C799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21" y="6191665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2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A6500E-247E-ECE0-9DF8-C5A238C53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880" y="1690688"/>
            <a:ext cx="3417458" cy="3641700"/>
          </a:xfr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0720BE5-4B83-24B5-0956-F9292271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CHECKS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0AD549-0490-BFFA-9DF6-55279E5BB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266" y="6017342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4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3560-B893-EEF0-024C-6BC379E9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Describing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684E9-8513-8657-68C7-F16E258B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775" y="6220030"/>
            <a:ext cx="3628102" cy="545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F3D938-AE2A-8802-1362-42FBADEEE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82" y="1690688"/>
            <a:ext cx="8920398" cy="3401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4DAED-7E4B-AEC2-1764-28F70FB3DFD6}"/>
              </a:ext>
            </a:extLst>
          </p:cNvPr>
          <p:cNvSpPr txBox="1"/>
          <p:nvPr/>
        </p:nvSpPr>
        <p:spPr>
          <a:xfrm>
            <a:off x="1536415" y="520436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summary statistics for numerical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only gives for numerical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Guides preprocessing decisions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5829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BDE3-F379-52EE-0E88-E82376B4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VALUES(Categorical)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AA96F-3614-B254-E42A-E49B0B84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78775"/>
            <a:ext cx="10364098" cy="4244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EE7848-2912-9963-A731-A51732211135}"/>
              </a:ext>
            </a:extLst>
          </p:cNvPr>
          <p:cNvSpPr txBox="1"/>
          <p:nvPr/>
        </p:nvSpPr>
        <p:spPr>
          <a:xfrm>
            <a:off x="838200" y="5680799"/>
            <a:ext cx="9743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Missing values in sustainability-related categorical fields were identified.</a:t>
            </a:r>
          </a:p>
          <a:p>
            <a:r>
              <a:rPr lang="en-IN" dirty="0"/>
              <a:t>• Appropriate replacements were applied to preserve patterns in sustainable fashion practices.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8A2204-A0AE-BE58-7C72-219DDE6F4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3" y="6220029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82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9A0C-8F7A-BE8F-5318-7AE880A1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29"/>
            <a:ext cx="10515600" cy="9883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Check &amp; Removal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CDECEC-B37E-B7FC-F408-4E2D501C0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22" y="1359189"/>
            <a:ext cx="1943268" cy="6629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03ED63-12BC-8099-4FF4-845FC5A3D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22" y="2020236"/>
            <a:ext cx="11867556" cy="594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DB3572-1705-AD54-FCFC-A9CAED857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4648"/>
            <a:ext cx="6941574" cy="40219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85B5A8-17E8-6983-AA4C-0B769A0F65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2574595"/>
            <a:ext cx="4904769" cy="4102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7D8D95-44DE-8D8A-9F3A-705ED8DD01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90" y="1359189"/>
            <a:ext cx="1928027" cy="6553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40CA60-A121-0780-72B3-6B19FDFB7B91}"/>
              </a:ext>
            </a:extLst>
          </p:cNvPr>
          <p:cNvSpPr txBox="1"/>
          <p:nvPr/>
        </p:nvSpPr>
        <p:spPr>
          <a:xfrm>
            <a:off x="4511040" y="107669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Detects duplicate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Removes duplicates to avoid biased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data integrity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3622F7-3DBA-02B1-CC06-548882C97D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959" y="6090923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2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9F18-9EA3-957F-EE5D-A7AB6E8F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6987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 AND DATASET INDIVIDUAL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C6E9F-8443-3F1B-41FE-19A0D03C3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084" y="6220030"/>
            <a:ext cx="3628102" cy="545690"/>
          </a:xfrm>
          <a:prstGeom prst="rect">
            <a:avLst/>
          </a:prstGeom>
        </p:spPr>
      </p:pic>
      <p:pic>
        <p:nvPicPr>
          <p:cNvPr id="3" name="Content Placeholder 10">
            <a:extLst>
              <a:ext uri="{FF2B5EF4-FFF2-40B4-BE49-F238E27FC236}">
                <a16:creationId xmlns:a16="http://schemas.microsoft.com/office/drawing/2014/main" id="{FFC66871-C752-391F-7A6F-BABD2C44D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82" y="1690687"/>
            <a:ext cx="4601613" cy="420866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84577-82AD-E870-39D4-AFB7572E03AB}"/>
              </a:ext>
            </a:extLst>
          </p:cNvPr>
          <p:cNvSpPr txBox="1"/>
          <p:nvPr/>
        </p:nvSpPr>
        <p:spPr>
          <a:xfrm>
            <a:off x="6921909" y="1699522"/>
            <a:ext cx="46016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 Columns have missing values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There are 1004 duplicate records in the       dataset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Now I want to perform preprocessing techniques on columns like </a:t>
            </a:r>
          </a:p>
          <a:p>
            <a:endParaRPr lang="en-IN" dirty="0"/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Handling missing values and duplicates </a:t>
            </a:r>
          </a:p>
          <a:p>
            <a:pPr marL="342900" indent="-342900">
              <a:buAutoNum type="arabicPeriod"/>
            </a:pPr>
            <a:r>
              <a:rPr lang="en-IN" dirty="0"/>
              <a:t>Handling inconsistencies in Data </a:t>
            </a:r>
          </a:p>
          <a:p>
            <a:pPr marL="342900" indent="-342900">
              <a:buAutoNum type="arabicPeriod"/>
            </a:pPr>
            <a:r>
              <a:rPr lang="en-IN" dirty="0"/>
              <a:t>Data Type conversions</a:t>
            </a:r>
          </a:p>
        </p:txBody>
      </p:sp>
    </p:spTree>
    <p:extLst>
      <p:ext uri="{BB962C8B-B14F-4D97-AF65-F5344CB8AC3E}">
        <p14:creationId xmlns:p14="http://schemas.microsoft.com/office/powerpoint/2010/main" val="947769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F05E70F-07FC-A93D-D0C7-0055217C2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14" y="6094998"/>
            <a:ext cx="3628102" cy="545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EC2EE8-A680-ACF9-BBBA-2F0E9744B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57" y="735199"/>
            <a:ext cx="5113463" cy="3010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EFABA5-CD6C-F1F5-D0E4-BAF9062B4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649" y="735199"/>
            <a:ext cx="6157494" cy="42904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8EEB60-6839-C062-F11A-8509836471E5}"/>
              </a:ext>
            </a:extLst>
          </p:cNvPr>
          <p:cNvSpPr txBox="1"/>
          <p:nvPr/>
        </p:nvSpPr>
        <p:spPr>
          <a:xfrm>
            <a:off x="670027" y="3871469"/>
            <a:ext cx="39527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percentage of missing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categorical distribution using mode and value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findings to guide preprocessing decisions. missing values for all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Certifications as the only column with significant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B7CDCC-A0CC-AC15-7519-A6C47036DF68}"/>
              </a:ext>
            </a:extLst>
          </p:cNvPr>
          <p:cNvSpPr txBox="1"/>
          <p:nvPr/>
        </p:nvSpPr>
        <p:spPr>
          <a:xfrm>
            <a:off x="426720" y="145588"/>
            <a:ext cx="584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Missing values percentage for all columns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381676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0AD5-1266-A2D0-C269-EA8A0307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36FEF11-B6B3-EAC2-7D1C-602C3B52D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14" y="6094998"/>
            <a:ext cx="3628102" cy="545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4DC4EC-9450-D529-270B-0E1D73FD5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78" y="492760"/>
            <a:ext cx="6501248" cy="2478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D19FCD-12EA-1094-5B48-59E9EFD5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78" y="3652520"/>
            <a:ext cx="6347543" cy="1822261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42857AEE-FA6C-7609-3959-501C2FB5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314" y="1379568"/>
            <a:ext cx="393192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categorical values using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Verified absence of null values in Certifications.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text inconsistencies in categorical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Ensured uniform and clean data for EDA.</a:t>
            </a:r>
          </a:p>
        </p:txBody>
      </p:sp>
    </p:spTree>
    <p:extLst>
      <p:ext uri="{BB962C8B-B14F-4D97-AF65-F5344CB8AC3E}">
        <p14:creationId xmlns:p14="http://schemas.microsoft.com/office/powerpoint/2010/main" val="3204771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DFC3-D2B9-C88E-500B-0498F442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Consistencies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3F07F-EE27-B5FD-58EE-DA47D0153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57" y="1569344"/>
            <a:ext cx="5502117" cy="431329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FFB835-D3AE-036A-7731-8D1ED256CDCE}"/>
              </a:ext>
            </a:extLst>
          </p:cNvPr>
          <p:cNvSpPr txBox="1"/>
          <p:nvPr/>
        </p:nvSpPr>
        <p:spPr>
          <a:xfrm>
            <a:off x="6607277" y="1559051"/>
            <a:ext cx="48256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Fixes inconsistent capitalization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Uses domain logic for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Avoids incorrect AI risk assignment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877BE-C5A9-27F8-8401-D6B8DF0A4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4" y="5947185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16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04B1-5F67-248B-81C2-4E34CBB9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6" y="21397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 OF COLUMN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E1167-C389-C835-6DF9-1EA5812CE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82" y="6159330"/>
            <a:ext cx="3628102" cy="545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CC7A54-A1AD-B4E8-35C5-12576EA71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116" y="1522849"/>
            <a:ext cx="6027942" cy="2339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216759-93ED-C36D-1B1E-5014E0D60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18" y="1522849"/>
            <a:ext cx="4712357" cy="38123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54E4DF-C554-4BBB-6F95-FE358ED6079A}"/>
              </a:ext>
            </a:extLst>
          </p:cNvPr>
          <p:cNvSpPr txBox="1"/>
          <p:nvPr/>
        </p:nvSpPr>
        <p:spPr>
          <a:xfrm>
            <a:off x="5257799" y="381978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to verify the data type of individual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data type conversion to ensure correct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to verify the number of unique values in the column.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38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73EC3-C21C-779C-2B8D-205EC6F5B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2328969"/>
            <a:ext cx="3984105" cy="294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44AFBE-6150-D464-E91E-C0BB936ED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713484"/>
            <a:ext cx="3833192" cy="1051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C6E19A-6214-D64E-135F-872F77AA4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020" y="713484"/>
            <a:ext cx="5468620" cy="440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7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498C-FD26-EA50-4CB2-5D6DFAA7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395" y="365125"/>
            <a:ext cx="1102196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934A1-B819-7D15-DB46-4D6CF6023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911" y="6181008"/>
            <a:ext cx="3628102" cy="545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70C751-A5CB-F388-782E-21E7A62BA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84" y="1821990"/>
            <a:ext cx="6005080" cy="43590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D1F512A-DA53-4D10-9548-C8D3123E587B}"/>
              </a:ext>
            </a:extLst>
          </p:cNvPr>
          <p:cNvSpPr txBox="1"/>
          <p:nvPr/>
        </p:nvSpPr>
        <p:spPr>
          <a:xfrm>
            <a:off x="6499123" y="1923335"/>
            <a:ext cx="55748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• The histogram shows the distribution of average product prices across brands  </a:t>
            </a:r>
          </a:p>
          <a:p>
            <a:r>
              <a:rPr lang="en-IN" sz="2400" dirty="0"/>
              <a:t>• Prices are spread across a wide range, indicating variability in pricing strategies  </a:t>
            </a:r>
          </a:p>
          <a:p>
            <a:r>
              <a:rPr lang="en-IN" sz="2400" dirty="0"/>
              <a:t>• Most brands fall within the mid-price range, with fewer brands at extreme low or high prices  </a:t>
            </a:r>
          </a:p>
          <a:p>
            <a:r>
              <a:rPr lang="en-IN" sz="2400" dirty="0"/>
              <a:t>• This suggests the presence of budget, mid-range, and premium brands in the dataset</a:t>
            </a:r>
          </a:p>
        </p:txBody>
      </p:sp>
    </p:spTree>
    <p:extLst>
      <p:ext uri="{BB962C8B-B14F-4D97-AF65-F5344CB8AC3E}">
        <p14:creationId xmlns:p14="http://schemas.microsoft.com/office/powerpoint/2010/main" val="1263392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D32C-07E0-2F2C-02A8-CAD867BD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80"/>
            <a:ext cx="10515600" cy="84424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894A80-7CCA-73EC-06D5-531B61B8A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" y="1379997"/>
            <a:ext cx="4605332" cy="368043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C8D549-1816-BA1C-F625-24CD5090F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23" y="6230551"/>
            <a:ext cx="3628102" cy="545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404D2-B3FA-6F88-F160-794AB815F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131" y="1258682"/>
            <a:ext cx="4326909" cy="3923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7E36CA-0F25-67B0-432F-C62ADE549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705" y="1379998"/>
            <a:ext cx="3456295" cy="3181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99D441-D76C-BA12-9B1B-7719EC658AB3}"/>
              </a:ext>
            </a:extLst>
          </p:cNvPr>
          <p:cNvSpPr txBox="1"/>
          <p:nvPr/>
        </p:nvSpPr>
        <p:spPr>
          <a:xfrm>
            <a:off x="838200" y="889350"/>
            <a:ext cx="248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Numerical vs Numerical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0FF85-425C-26DE-BF7A-43108966DB72}"/>
              </a:ext>
            </a:extLst>
          </p:cNvPr>
          <p:cNvSpPr txBox="1"/>
          <p:nvPr/>
        </p:nvSpPr>
        <p:spPr>
          <a:xfrm>
            <a:off x="5429033" y="889350"/>
            <a:ext cx="2485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Categorical vs Numerical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79DE1-DCFB-67CE-736C-340B021612B8}"/>
              </a:ext>
            </a:extLst>
          </p:cNvPr>
          <p:cNvSpPr txBox="1"/>
          <p:nvPr/>
        </p:nvSpPr>
        <p:spPr>
          <a:xfrm>
            <a:off x="9215662" y="949373"/>
            <a:ext cx="259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Categorical vs Categorical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7BFA23-3BB3-6701-0262-49C66960D920}"/>
              </a:ext>
            </a:extLst>
          </p:cNvPr>
          <p:cNvSpPr txBox="1"/>
          <p:nvPr/>
        </p:nvSpPr>
        <p:spPr>
          <a:xfrm>
            <a:off x="359775" y="5093994"/>
            <a:ext cx="34419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environmental impact metrics in sustainable fashion brands.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Helps understand how carbon emissions relate to water consumption.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5B4341-4B4A-7FF0-1133-DA4A47CE0ED5}"/>
              </a:ext>
            </a:extLst>
          </p:cNvPr>
          <p:cNvSpPr txBox="1"/>
          <p:nvPr/>
        </p:nvSpPr>
        <p:spPr>
          <a:xfrm>
            <a:off x="4546694" y="5303067"/>
            <a:ext cx="38435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Examines how sustainability ratings influence product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Highlights pricing differences across sustainability levels.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9DDDD-7D62-F2A6-A975-036C31A5B1EF}"/>
              </a:ext>
            </a:extLst>
          </p:cNvPr>
          <p:cNvSpPr txBox="1"/>
          <p:nvPr/>
        </p:nvSpPr>
        <p:spPr>
          <a:xfrm>
            <a:off x="8480323" y="4999153"/>
            <a:ext cx="3795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Evaluates the impact of recycling initiatives on market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 how sustainability practices relate to market trends.</a:t>
            </a:r>
          </a:p>
        </p:txBody>
      </p:sp>
    </p:spTree>
    <p:extLst>
      <p:ext uri="{BB962C8B-B14F-4D97-AF65-F5344CB8AC3E}">
        <p14:creationId xmlns:p14="http://schemas.microsoft.com/office/powerpoint/2010/main" val="75219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BC33-DFB7-2ED4-56AA-0C28AA473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A9B36E-877F-B838-B30A-4FA0F3C85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683" y="5299587"/>
            <a:ext cx="5761703" cy="54569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039F4D-824C-D293-C118-421DE4216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555" y="6220030"/>
            <a:ext cx="3628102" cy="545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A4B226-4F20-1FCB-4392-7172646C65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0" y="1467586"/>
            <a:ext cx="9887552" cy="3832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738735-4C0E-D176-98E3-300638D46538}"/>
              </a:ext>
            </a:extLst>
          </p:cNvPr>
          <p:cNvSpPr txBox="1"/>
          <p:nvPr/>
        </p:nvSpPr>
        <p:spPr>
          <a:xfrm>
            <a:off x="8988413" y="1558413"/>
            <a:ext cx="25563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 relationships between environmental impact measures and product pricing in sustainable fashion.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Results suggest sustainability does not strongly depend on pricing factors.</a:t>
            </a:r>
          </a:p>
        </p:txBody>
      </p:sp>
    </p:spTree>
    <p:extLst>
      <p:ext uri="{BB962C8B-B14F-4D97-AF65-F5344CB8AC3E}">
        <p14:creationId xmlns:p14="http://schemas.microsoft.com/office/powerpoint/2010/main" val="3902366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B29A-1A88-0CAC-8512-C28230AE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5" y="79990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204CF-5DA3-F33E-0A73-26CE0DD0D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79" y="6156749"/>
            <a:ext cx="3628102" cy="54569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B07EDB6-8801-D8D7-D079-648C1D794F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484" y="3728203"/>
            <a:ext cx="119166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    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6BB05-7DD0-0BC3-2DCD-E557626AC738}"/>
              </a:ext>
            </a:extLst>
          </p:cNvPr>
          <p:cNvSpPr txBox="1"/>
          <p:nvPr/>
        </p:nvSpPr>
        <p:spPr>
          <a:xfrm>
            <a:off x="698090" y="1032387"/>
            <a:ext cx="11031794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sustainable fashion dataset was explored to understand its structure, features, and data types.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Basic data checks were performed to verify dataset size, column information, and overall data quality.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values, duplicate records, and inconsistencies were identified and handled before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Suitable preprocessing techniques such as mode and median imputation were applied to categorical and numerical columns.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type conversions and standardization ensured data consistency and reliability.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Univariate analysis examined the distribution of individual sustainability, pricing, and environmental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Bivariate analysis explored relationships between sustainability indicators and business-related factors.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Multivariate analysis assessed interactions among environmental impact metrics and pricing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analysis revealed limited strong correlations, indicating sustainability metrics often operate independently.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Overall, the EDA provided meaningful insights to support data-driven decision-making in sustainable fashion.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549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1A35-84A6-F830-8307-6C30F731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41B4A-08AA-A3D3-669A-D48DBA74A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14" y="6115665"/>
            <a:ext cx="3628102" cy="54569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056FFD0-9E14-57E9-E4C1-9F2E6E7E1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1588"/>
            <a:ext cx="9719071" cy="286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sustainable practices significantly reduce environmental impact.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higher sustainability ratings tend to perform better in market trends.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higher prices for sustainable products are accepted by consumers.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emerges as both an environmental responsibility and a business advantage.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proved to be an effective approach for deriving meaningful,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2121857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4041F93-F58C-EDE5-5685-F01DD70CD52A}"/>
              </a:ext>
            </a:extLst>
          </p:cNvPr>
          <p:cNvSpPr txBox="1"/>
          <p:nvPr/>
        </p:nvSpPr>
        <p:spPr>
          <a:xfrm>
            <a:off x="4232787" y="2322804"/>
            <a:ext cx="372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E8A1F4-BED9-64F4-8896-772C810B8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82" y="6164826"/>
            <a:ext cx="3628102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0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1076</Words>
  <Application>Microsoft Office PowerPoint</Application>
  <PresentationFormat>Widescreen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PROJECT ON  SUSTAINABLE FASHION: ECO-FRIENDLY TRENDS</vt:lpstr>
      <vt:lpstr>About me</vt:lpstr>
      <vt:lpstr>About me</vt:lpstr>
      <vt:lpstr>About me</vt:lpstr>
      <vt:lpstr>DATASET OVERVIEW </vt:lpstr>
      <vt:lpstr>READING THE DATASET</vt:lpstr>
      <vt:lpstr>COLUMN DESCRIPTION</vt:lpstr>
      <vt:lpstr>PowerPoint Presentation</vt:lpstr>
      <vt:lpstr>BASIC DATA CHECKS</vt:lpstr>
      <vt:lpstr>Describing the data</vt:lpstr>
      <vt:lpstr>MISSING VALUES(Categorical)</vt:lpstr>
      <vt:lpstr>Duplicate Records Check &amp; Removal</vt:lpstr>
      <vt:lpstr>PREPROCESSING TECHNIQUES AND DATASET INDIVIDUAL COLUMNS</vt:lpstr>
      <vt:lpstr>PowerPoint Presentation</vt:lpstr>
      <vt:lpstr>PowerPoint Presentation</vt:lpstr>
      <vt:lpstr>Fixing Consistencies</vt:lpstr>
      <vt:lpstr>TYPE CONVERSION OF COLUMN</vt:lpstr>
      <vt:lpstr>PowerPoint Presentation</vt:lpstr>
      <vt:lpstr>UNIVARIATE ANALYSIS</vt:lpstr>
      <vt:lpstr>BIVARIATE ANALYSIS </vt:lpstr>
      <vt:lpstr>MULTIVARIATE ANALYSIS</vt:lpstr>
      <vt:lpstr>SUMMARY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shabana</dc:creator>
  <cp:lastModifiedBy>syed shabana</cp:lastModifiedBy>
  <cp:revision>18</cp:revision>
  <dcterms:created xsi:type="dcterms:W3CDTF">2026-01-06T05:25:13Z</dcterms:created>
  <dcterms:modified xsi:type="dcterms:W3CDTF">2026-01-07T12:04:16Z</dcterms:modified>
</cp:coreProperties>
</file>